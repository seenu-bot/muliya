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8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3508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QMS Module Flows: APIs &amp; Raw Materials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280190" y="41086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practical, end-to-end walkthrough of the Quality Management System for Life Science manufacturers — covering In-Process Quality, Deviation Management, CAPA, Complaints, Recalls, and more.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280190" y="5452467"/>
            <a:ext cx="3452574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8" name="Text 4"/>
          <p:cNvSpPr/>
          <p:nvPr/>
        </p:nvSpPr>
        <p:spPr>
          <a:xfrm>
            <a:off x="6416278" y="5520452"/>
            <a:ext cx="31803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SUPPLY CHAIN OS · QMS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01980"/>
            <a:ext cx="56018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QMS Module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569363"/>
            <a:ext cx="132411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QMS platform covers six interconnected modules, each serving a distinct quality function across the product lifecycle.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11" y="2062282"/>
            <a:ext cx="396835" cy="396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611" y="26761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In-Process Quality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94611" y="3090505"/>
            <a:ext cx="65120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monitoring during manufacturing of APIs and raw material batches.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3666" y="2062282"/>
            <a:ext cx="396835" cy="3968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3666" y="2676168"/>
            <a:ext cx="28483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Deviation Management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23666" y="3090505"/>
            <a:ext cx="65121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Capture, investigate, and resolve departures from standard operating procedures.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611" y="4033123"/>
            <a:ext cx="396835" cy="3968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611" y="46470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CAPA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694611" y="5061347"/>
            <a:ext cx="65120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Corrective and preventive actions to eliminate root causes and prevent recurrence.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3666" y="4033123"/>
            <a:ext cx="396835" cy="3968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3666" y="46470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Complaints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23666" y="5061347"/>
            <a:ext cx="65121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Systematic intake, investigation, and resolution of customer-reported quality issues.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611" y="6003965"/>
            <a:ext cx="396835" cy="3968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4611" y="66178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Recall Management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694611" y="7032188"/>
            <a:ext cx="651200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Structured process to withdraw non-conforming product from the supply chain.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3666" y="6003965"/>
            <a:ext cx="396835" cy="3968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3666" y="6617851"/>
            <a:ext cx="27095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Supplier Management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7423666" y="7032188"/>
            <a:ext cx="65121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Qualify, monitor, and audit suppliers of APIs and raw materials.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9330" y="533281"/>
            <a:ext cx="4164330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In-Process Quality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069330" y="135957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69330" y="1742123"/>
            <a:ext cx="3785949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In-Process Quality (IPQ) monitors critical quality attributes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during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manufacturing — before the batch is finished — so deviations are caught early and corrected in real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69330" y="2804041"/>
            <a:ext cx="3785949" cy="1281470"/>
          </a:xfrm>
          <a:prstGeom prst="roundRect">
            <a:avLst>
              <a:gd name="adj" fmla="val 1950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898" y="3026331"/>
            <a:ext cx="208121" cy="1665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0588" y="2967871"/>
            <a:ext cx="3078123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check is tied to a batch record. Results outside specification automatically trigger a deviation record in the system.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269141" y="135957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Flow: API Example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269141" y="1757363"/>
            <a:ext cx="333137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269141" y="2017395"/>
            <a:ext cx="378594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2" name="Text 8"/>
          <p:cNvSpPr/>
          <p:nvPr/>
        </p:nvSpPr>
        <p:spPr>
          <a:xfrm>
            <a:off x="10269141" y="214634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Batch Initiated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269141" y="2528888"/>
            <a:ext cx="378594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Production Manager opens a batch record for API synthesis (e.g. Ibuprofen bulk).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269141" y="3238262"/>
            <a:ext cx="333137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269141" y="3498294"/>
            <a:ext cx="378594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6" name="Text 12"/>
          <p:cNvSpPr/>
          <p:nvPr/>
        </p:nvSpPr>
        <p:spPr>
          <a:xfrm>
            <a:off x="10269141" y="3627239"/>
            <a:ext cx="214895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IPQ Checks Assigned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269141" y="4009787"/>
            <a:ext cx="378594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QA Officer assigns checkpoints: pH, yield, particle size at defined intervals.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269141" y="4719161"/>
            <a:ext cx="333137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269141" y="4979194"/>
            <a:ext cx="378594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0" name="Text 16"/>
          <p:cNvSpPr/>
          <p:nvPr/>
        </p:nvSpPr>
        <p:spPr>
          <a:xfrm>
            <a:off x="10269141" y="510813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Results Logged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269141" y="5490686"/>
            <a:ext cx="378594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Operator records results in-system; out-of-spec values are flagged automatically.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0269141" y="6200061"/>
            <a:ext cx="333137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269141" y="6460093"/>
            <a:ext cx="378594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4" name="Text 20"/>
          <p:cNvSpPr/>
          <p:nvPr/>
        </p:nvSpPr>
        <p:spPr>
          <a:xfrm>
            <a:off x="10269141" y="658903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Review &amp; Release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0269141" y="6971586"/>
            <a:ext cx="378594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QA Officer reviews results and approves or escalates to deviation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18517"/>
            <a:ext cx="518945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Deviation Management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65" y="1371243"/>
            <a:ext cx="9698831" cy="443876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7637" y="2479484"/>
            <a:ext cx="623581" cy="6235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92066" y="4580562"/>
            <a:ext cx="1820855" cy="70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Close &amp; Review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4747" y="2480654"/>
            <a:ext cx="623581" cy="62358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97289" y="4755944"/>
            <a:ext cx="1820855" cy="35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Contain</a:t>
            </a:r>
            <a:endParaRPr lang="en-US" sz="2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2442" y="2480654"/>
            <a:ext cx="623581" cy="62358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14983" y="4580562"/>
            <a:ext cx="1820855" cy="70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Classify &amp; Investigate</a:t>
            </a:r>
            <a:endParaRPr lang="en-US" sz="2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87665" y="2480654"/>
            <a:ext cx="623581" cy="62358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982792" y="4580562"/>
            <a:ext cx="1820856" cy="70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Detect &amp; Report</a:t>
            </a:r>
            <a:endParaRPr lang="en-US" sz="2200" dirty="0"/>
          </a:p>
        </p:txBody>
      </p:sp>
      <p:sp>
        <p:nvSpPr>
          <p:cNvPr id="12" name="Shape 5"/>
          <p:cNvSpPr/>
          <p:nvPr/>
        </p:nvSpPr>
        <p:spPr>
          <a:xfrm>
            <a:off x="949047" y="5971937"/>
            <a:ext cx="6275665" cy="1739027"/>
          </a:xfrm>
          <a:prstGeom prst="roundRect">
            <a:avLst>
              <a:gd name="adj" fmla="val 1559"/>
            </a:avLst>
          </a:prstGeom>
          <a:solidFill>
            <a:srgbClr val="D3C5B6"/>
          </a:solidFill>
          <a:ln/>
        </p:spPr>
      </p:sp>
      <p:sp>
        <p:nvSpPr>
          <p:cNvPr id="13" name="Text 6"/>
          <p:cNvSpPr/>
          <p:nvPr/>
        </p:nvSpPr>
        <p:spPr>
          <a:xfrm>
            <a:off x="1129784" y="611588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Example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1129784" y="6542246"/>
            <a:ext cx="5914192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reactor temperature excursion during API crystallisation is flagged. The QA Officer classifies it as Major, investigates the chiller unit failure, and the Production Manager implements a hold on the batch pending investigation.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7543205" y="6115883"/>
            <a:ext cx="25236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Raw Material Example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543205" y="6542246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incoming shipment of lactose monohydrate fails moisture specification. A deviation is raised, the lot is quarantined, and the supplier is notified — all tracked within the same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8609767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CAPA: Corrective &amp; Preventive Actions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2662476"/>
            <a:ext cx="242066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SME Role Breakdown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543205" y="3106817"/>
            <a:ext cx="2935724" cy="1872734"/>
          </a:xfrm>
          <a:prstGeom prst="roundRect">
            <a:avLst>
              <a:gd name="adj" fmla="val 5859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520345" y="3106817"/>
            <a:ext cx="91440" cy="1872734"/>
          </a:xfrm>
          <a:prstGeom prst="roundRect">
            <a:avLst>
              <a:gd name="adj" fmla="val 29651"/>
            </a:avLst>
          </a:prstGeom>
          <a:solidFill>
            <a:srgbClr val="D3C5B6"/>
          </a:solidFill>
          <a:ln/>
        </p:spPr>
      </p:sp>
      <p:sp>
        <p:nvSpPr>
          <p:cNvPr id="8" name="Text 4"/>
          <p:cNvSpPr/>
          <p:nvPr/>
        </p:nvSpPr>
        <p:spPr>
          <a:xfrm>
            <a:off x="7815382" y="331041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QA Officer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815382" y="3736777"/>
            <a:ext cx="24599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Leads root cause analysis; drafts corrective actions; verifies effectiveness before closure.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622875" y="3106817"/>
            <a:ext cx="2935724" cy="1872734"/>
          </a:xfrm>
          <a:prstGeom prst="roundRect">
            <a:avLst>
              <a:gd name="adj" fmla="val 5859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00015" y="3106817"/>
            <a:ext cx="91440" cy="1872734"/>
          </a:xfrm>
          <a:prstGeom prst="roundRect">
            <a:avLst>
              <a:gd name="adj" fmla="val 29651"/>
            </a:avLst>
          </a:prstGeom>
          <a:solidFill>
            <a:srgbClr val="D3C5B6"/>
          </a:solidFill>
          <a:ln/>
        </p:spPr>
      </p:sp>
      <p:sp>
        <p:nvSpPr>
          <p:cNvPr id="12" name="Text 8"/>
          <p:cNvSpPr/>
          <p:nvPr/>
        </p:nvSpPr>
        <p:spPr>
          <a:xfrm>
            <a:off x="10895052" y="3310414"/>
            <a:ext cx="229612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Production Manager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0895052" y="3736777"/>
            <a:ext cx="24599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Executes process changes; retrains operators; ensures modified SOPs are followed on the floor.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543205" y="5141476"/>
            <a:ext cx="6015395" cy="1188363"/>
          </a:xfrm>
          <a:prstGeom prst="roundRect">
            <a:avLst>
              <a:gd name="adj" fmla="val 2282"/>
            </a:avLst>
          </a:prstGeom>
          <a:solidFill>
            <a:srgbClr val="B6FCB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5391983"/>
            <a:ext cx="225862" cy="1807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0540" y="5330547"/>
            <a:ext cx="524732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CAPA is only closed when the QA Executive confirms the root cause has been eliminated and the issue has not recurred over a defined monitoring period.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4214" y="540544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Complaints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4214" y="141553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End-to-End Flow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14" y="1836301"/>
            <a:ext cx="868323" cy="12418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95411" y="200989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Complaint Received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095411" y="2413992"/>
            <a:ext cx="275117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or distributor reports a quality issue via portal or phone.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214" y="3078123"/>
            <a:ext cx="868323" cy="17323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95411" y="325171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Intake &amp; Triage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095411" y="3655814"/>
            <a:ext cx="2751177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QA Officer logs the complaint, assigns a category (e.g. contamination, label error, potency), and sets a risk level.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214" y="4810482"/>
            <a:ext cx="868323" cy="12418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95411" y="498407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Investigation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095411" y="5388173"/>
            <a:ext cx="275117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Linked to batch records; retained samples tested if available.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214" y="6052304"/>
            <a:ext cx="868323" cy="14870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95411" y="622589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Response &amp; CAPA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7095411" y="6629995"/>
            <a:ext cx="275117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Written response sent to complainant; CAPA initiated if systemic issue is confirmed.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277832" y="1415534"/>
            <a:ext cx="326028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vs Raw Material Examples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10277832" y="1836301"/>
            <a:ext cx="3752374" cy="2023348"/>
          </a:xfrm>
          <a:prstGeom prst="roundRect">
            <a:avLst>
              <a:gd name="adj" fmla="val 128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10474285" y="203275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Complaint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0474285" y="2436852"/>
            <a:ext cx="3359468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customer reports discolouration in finished tablets. Investigation traces the issue to an API batch with elevated impurity — CAPA raised on synthesis parameters.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10277832" y="3992523"/>
            <a:ext cx="3752374" cy="2023348"/>
          </a:xfrm>
          <a:prstGeom prst="roundRect">
            <a:avLst>
              <a:gd name="adj" fmla="val 128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0474285" y="4188976"/>
            <a:ext cx="261199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Raw Material Complaint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0474285" y="4593074"/>
            <a:ext cx="3359468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packaging supplier reports microcrystalline cellulose causing poor tablet compressibility. QA Officer links complaint to a supplier change event and initiates a re-qualification.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7093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Recall Management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198" y="1387673"/>
            <a:ext cx="11835765" cy="444126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5022" y="2518944"/>
            <a:ext cx="611358" cy="6113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60340" y="4578839"/>
            <a:ext cx="1785165" cy="687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Disposition &amp; CAPA</a:t>
            </a:r>
            <a:endParaRPr lang="en-US" sz="21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6878" y="2520091"/>
            <a:ext cx="611359" cy="6113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10543" y="4750784"/>
            <a:ext cx="1785165" cy="343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Retrieval</a:t>
            </a:r>
            <a:endParaRPr lang="en-US" sz="21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9308" y="2520091"/>
            <a:ext cx="611358" cy="61135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72972" y="4750784"/>
            <a:ext cx="1785166" cy="343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Notification</a:t>
            </a:r>
            <a:endParaRPr lang="en-US" sz="21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1737" y="2520091"/>
            <a:ext cx="611358" cy="61135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235401" y="4578839"/>
            <a:ext cx="1785166" cy="687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Classification</a:t>
            </a:r>
            <a:endParaRPr lang="en-US" sz="21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1939" y="2520091"/>
            <a:ext cx="611358" cy="61135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948922" y="4750784"/>
            <a:ext cx="1785166" cy="343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Trigger</a:t>
            </a:r>
            <a:endParaRPr lang="en-US" sz="2150" dirty="0"/>
          </a:p>
        </p:txBody>
      </p:sp>
      <p:sp>
        <p:nvSpPr>
          <p:cNvPr id="14" name="Shape 6"/>
          <p:cNvSpPr/>
          <p:nvPr/>
        </p:nvSpPr>
        <p:spPr>
          <a:xfrm>
            <a:off x="1073944" y="5984677"/>
            <a:ext cx="6152555" cy="1687711"/>
          </a:xfrm>
          <a:prstGeom prst="roundRect">
            <a:avLst>
              <a:gd name="adj" fmla="val 1575"/>
            </a:avLst>
          </a:prstGeom>
          <a:solidFill>
            <a:srgbClr val="D3C5B6"/>
          </a:solidFill>
          <a:ln/>
        </p:spPr>
      </p:sp>
      <p:sp>
        <p:nvSpPr>
          <p:cNvPr id="15" name="Text 7"/>
          <p:cNvSpPr/>
          <p:nvPr/>
        </p:nvSpPr>
        <p:spPr>
          <a:xfrm>
            <a:off x="1251109" y="612302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Recall Scenario</a:t>
            </a:r>
            <a:endParaRPr lang="en-US" sz="1700" dirty="0"/>
          </a:p>
        </p:txBody>
      </p:sp>
      <p:sp>
        <p:nvSpPr>
          <p:cNvPr id="16" name="Text 8"/>
          <p:cNvSpPr/>
          <p:nvPr/>
        </p:nvSpPr>
        <p:spPr>
          <a:xfrm>
            <a:off x="1251109" y="6538198"/>
            <a:ext cx="57982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API batch is found to exceed ICH Q3A impurity thresholds post-release. A Class II recall is issued, affecting three downstream finished-dose manufacturers. The system tracks all distributed quantities and confirms retrieval.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7538799" y="6123027"/>
            <a:ext cx="320647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Raw Material Recall Scenario</a:t>
            </a:r>
            <a:endParaRPr lang="en-US" sz="1700" dirty="0"/>
          </a:p>
        </p:txBody>
      </p:sp>
      <p:sp>
        <p:nvSpPr>
          <p:cNvPr id="18" name="Text 10"/>
          <p:cNvSpPr/>
          <p:nvPr/>
        </p:nvSpPr>
        <p:spPr>
          <a:xfrm>
            <a:off x="7538799" y="6538198"/>
            <a:ext cx="5897523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supplier issues a voluntary recall of a starch excipient due to microbial contamination. The QMS flags all internal batches that consumed the affected lot, enabling rapid quarantine and regulatory notification.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430173"/>
            <a:ext cx="4350782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Adverse Event Reporting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232" y="1105733"/>
            <a:ext cx="4252913" cy="4252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14817" y="2712958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Purpose &amp; 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014817" y="3022997"/>
            <a:ext cx="3198852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Adverse Event Reporting captures unexpected harmful effects linked to a product and ensures timely submission to regulatory authorities (e.g. MHRA, FDA, EMA).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424232" y="5557957"/>
            <a:ext cx="28348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24232" y="5783580"/>
            <a:ext cx="484667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8" name="Text 5"/>
          <p:cNvSpPr/>
          <p:nvPr/>
        </p:nvSpPr>
        <p:spPr>
          <a:xfrm>
            <a:off x="2424232" y="5884902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Captured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424232" y="6159460"/>
            <a:ext cx="484667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Healthcare provider or patient reports an adverse event; QA Officer logs it in the system.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59491" y="5557957"/>
            <a:ext cx="28348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9491" y="5783580"/>
            <a:ext cx="484667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2" name="Text 9"/>
          <p:cNvSpPr/>
          <p:nvPr/>
        </p:nvSpPr>
        <p:spPr>
          <a:xfrm>
            <a:off x="7359491" y="5884902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Medical Assessment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59491" y="6159460"/>
            <a:ext cx="484667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Causality and severity assessed; seriousness classification applied (SAE vs. non-SAE).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24232" y="6722983"/>
            <a:ext cx="28348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24232" y="6948607"/>
            <a:ext cx="484667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6" name="Text 13"/>
          <p:cNvSpPr/>
          <p:nvPr/>
        </p:nvSpPr>
        <p:spPr>
          <a:xfrm>
            <a:off x="2424232" y="7049929"/>
            <a:ext cx="20284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Regulatory Submission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424232" y="7324487"/>
            <a:ext cx="484667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QA Executive reviews and submits the report within mandated timelines (e.g. 15-day expedited for SAEs).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59491" y="6722983"/>
            <a:ext cx="28348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59491" y="6948607"/>
            <a:ext cx="4846677" cy="1524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359491" y="7049929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Signal Monitoring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59491" y="7324487"/>
            <a:ext cx="484667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Patterns across events are analysed; trends trigger a CAPA if a systemic issue is identified.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3064"/>
            <a:ext cx="61941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Supplier Management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65471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39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Qualification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30040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 API or raw material suppliers complete a questionnaire, site audit, and sample testing before approval. QA Officer maintains the Approved Supplier List (ASL).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1865471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639622"/>
            <a:ext cx="28451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Ongoing Monitoring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13004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delivery is reviewed against Certificate of Analysis (CoA) specifications. Out-of-spec results raise a deviation and may trigger re-audit.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1865471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639622"/>
            <a:ext cx="29010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 Review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13004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Production Manager and QA Officer jointly review supplier scorecards quarterly — tracking on-time delivery, rejection rates, and CAPA closure rates.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199703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528554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483191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supplier delivering two consecutive non-conforming API batches must be escalated to the QA Executive for re-qualification or removal from the ASL.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718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1767245"/>
            <a:ext cx="3664744" cy="3484364"/>
          </a:xfrm>
          <a:prstGeom prst="roundRect">
            <a:avLst>
              <a:gd name="adj" fmla="val 976"/>
            </a:avLst>
          </a:prstGeom>
          <a:solidFill>
            <a:srgbClr val="EEE8DD"/>
          </a:solidFill>
          <a:ln/>
        </p:spPr>
      </p:sp>
      <p:sp>
        <p:nvSpPr>
          <p:cNvPr id="7" name="Text 3"/>
          <p:cNvSpPr/>
          <p:nvPr/>
        </p:nvSpPr>
        <p:spPr>
          <a:xfrm>
            <a:off x="1020604" y="1994059"/>
            <a:ext cx="3198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One Connected System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2484477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module — from IPQ to Recall — is interlinked. A deviation can trigger a CAPA; a complaint can initiate a recall. The platform ensures no quality event falls through the cracks.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767245"/>
            <a:ext cx="3664863" cy="3484364"/>
          </a:xfrm>
          <a:prstGeom prst="roundRect">
            <a:avLst>
              <a:gd name="adj" fmla="val 976"/>
            </a:avLst>
          </a:prstGeom>
          <a:solidFill>
            <a:srgbClr val="EEE8DD"/>
          </a:solidFill>
          <a:ln/>
        </p:spPr>
      </p:sp>
      <p:sp>
        <p:nvSpPr>
          <p:cNvPr id="10" name="Text 6"/>
          <p:cNvSpPr/>
          <p:nvPr/>
        </p:nvSpPr>
        <p:spPr>
          <a:xfrm>
            <a:off x="4912162" y="1994059"/>
            <a:ext cx="3055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Clear Role Ownership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912162" y="2484477"/>
            <a:ext cx="321123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QA Officers investigate and verify. Production Managers act on the floor. QA Executives approve and close. SMEs succeed when responsibilities are clearly assigned and enforced.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478423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13" name="Text 9"/>
          <p:cNvSpPr/>
          <p:nvPr/>
        </p:nvSpPr>
        <p:spPr>
          <a:xfrm>
            <a:off x="1020604" y="5705237"/>
            <a:ext cx="3566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vs Raw Material Lens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0604" y="6195655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Both follow the same module flows but differ in scope: API issues affect finished-dose safety directly; raw material issues ripple upstream, impacting multiple batches and suppliers.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2026-04-24T10:26:03Z</dcterms:created>
  <dcterms:modified xsi:type="dcterms:W3CDTF">2026-04-24T10:26:03Z</dcterms:modified>
</cp:coreProperties>
</file>